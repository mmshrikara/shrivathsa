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4390"/>
            <a:ext cx="8229600" cy="2514600"/>
          </a:xfrm>
        </p:spPr>
        <p:txBody>
          <a:bodyPr/>
          <a:lstStyle/>
          <a:p>
            <a:r>
              <a:rPr dirty="0"/>
              <a:t>ANALYSING THE IMPACT OF RISK AND RETURN IN MUTUAL FUND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1563"/>
            <a:ext cx="8229600" cy="2514600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Shrivathsa</a:t>
            </a:r>
            <a:r>
              <a:rPr dirty="0"/>
              <a:t> M R</a:t>
            </a:r>
            <a:endParaRPr lang="en-US" dirty="0"/>
          </a:p>
          <a:p>
            <a:pPr marL="0" indent="0" algn="ctr">
              <a:buNone/>
            </a:pPr>
            <a:r>
              <a:rPr lang="en-IN" dirty="0"/>
              <a:t>24MFTF16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Introduction</a:t>
            </a:r>
          </a:p>
          <a:p>
            <a:pPr marL="0" indent="0">
              <a:buNone/>
            </a:pPr>
            <a:r>
              <a:rPr dirty="0"/>
              <a:t>• Problem Statement</a:t>
            </a:r>
          </a:p>
          <a:p>
            <a:pPr marL="0" indent="0">
              <a:buNone/>
            </a:pPr>
            <a:r>
              <a:rPr dirty="0"/>
              <a:t>• Objectives</a:t>
            </a:r>
          </a:p>
          <a:p>
            <a:pPr marL="0" indent="0">
              <a:buNone/>
            </a:pPr>
            <a:r>
              <a:rPr dirty="0"/>
              <a:t>• Hypothesis</a:t>
            </a:r>
          </a:p>
          <a:p>
            <a:pPr marL="0" indent="0">
              <a:buNone/>
            </a:pPr>
            <a:r>
              <a:rPr dirty="0"/>
              <a:t>• Methodology</a:t>
            </a:r>
          </a:p>
          <a:p>
            <a:pPr marL="0" indent="0">
              <a:buNone/>
            </a:pPr>
            <a:r>
              <a:rPr dirty="0"/>
              <a:t>• Data Analysis</a:t>
            </a:r>
          </a:p>
          <a:p>
            <a:pPr marL="0" indent="0">
              <a:buNone/>
            </a:pPr>
            <a:r>
              <a:rPr dirty="0"/>
              <a:t>• Major Findings</a:t>
            </a:r>
          </a:p>
          <a:p>
            <a:pPr marL="0" indent="0">
              <a:buNone/>
            </a:pPr>
            <a:r>
              <a:rPr dirty="0"/>
              <a:t>• Conclusion</a:t>
            </a:r>
          </a:p>
          <a:p>
            <a:pPr marL="0" indent="0">
              <a:buNone/>
            </a:pPr>
            <a:r>
              <a:rPr dirty="0"/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0320"/>
            <a:ext cx="8229600" cy="356584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Difficulty in selecting suitable mutual funds</a:t>
            </a:r>
          </a:p>
          <a:p>
            <a:pPr marL="0" indent="0">
              <a:buNone/>
            </a:pPr>
            <a:r>
              <a:rPr dirty="0"/>
              <a:t>• Investors focus only on returns, ignore risk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Mutual fund performances varies due to         market fluctuations</a:t>
            </a:r>
            <a:endParaRPr dirty="0"/>
          </a:p>
          <a:p>
            <a:pPr marL="0" indent="0">
              <a:buNone/>
            </a:pPr>
            <a:r>
              <a:rPr dirty="0"/>
              <a:t>• Systematic analysis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9305"/>
            <a:ext cx="8229600" cy="1143000"/>
          </a:xfrm>
        </p:spPr>
        <p:txBody>
          <a:bodyPr/>
          <a:lstStyle/>
          <a:p>
            <a:r>
              <a:rPr dirty="0"/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6010"/>
            <a:ext cx="8229600" cy="376015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Analyse</a:t>
            </a:r>
            <a:r>
              <a:rPr dirty="0"/>
              <a:t> impact of risk on mutual fund performance</a:t>
            </a:r>
          </a:p>
          <a:p>
            <a:pPr marL="0" indent="0">
              <a:buNone/>
            </a:pPr>
            <a:r>
              <a:rPr dirty="0"/>
              <a:t>• Evaluate return patterns</a:t>
            </a:r>
          </a:p>
          <a:p>
            <a:pPr marL="0" indent="0">
              <a:buNone/>
            </a:pPr>
            <a:r>
              <a:rPr dirty="0"/>
              <a:t>• Compare with Nifty 50 benchmark</a:t>
            </a:r>
          </a:p>
          <a:p>
            <a:pPr marL="0" indent="0">
              <a:buNone/>
            </a:pPr>
            <a:r>
              <a:rPr dirty="0"/>
              <a:t>• Assist investors in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040130"/>
          </a:xfrm>
        </p:spPr>
        <p:txBody>
          <a:bodyPr>
            <a:normAutofit/>
          </a:bodyPr>
          <a:lstStyle/>
          <a:p>
            <a:r>
              <a:rPr sz="3600" dirty="0"/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" y="1223010"/>
            <a:ext cx="8903970" cy="55435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Null Hypothesis (H₀)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H₀1: There is no significant relationship between risk and return of selected mutual funds.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H₀2: Selected mutual funds do not significantly outperform the benchmark index.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H₀3: There is no significant difference in performance among selected mutual funds.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Alternative Hypothesis (H₁)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H₁1: There is a significant relationship between risk and return of selected mutual funds.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H₁2: Selected mutual funds significantly outperform the benchmark index.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H₁3: There is a significant difference in performance among selected mutual funds.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r>
              <a:rPr dirty="0"/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040"/>
            <a:ext cx="8229600" cy="352012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Secondary Research</a:t>
            </a:r>
          </a:p>
          <a:p>
            <a:pPr marL="0" indent="0">
              <a:buNone/>
            </a:pPr>
            <a:r>
              <a:rPr dirty="0"/>
              <a:t>• Descriptive &amp; Analytical Design</a:t>
            </a:r>
          </a:p>
          <a:p>
            <a:pPr marL="0" indent="0">
              <a:buNone/>
            </a:pPr>
            <a:r>
              <a:rPr dirty="0"/>
              <a:t>• Study Period: </a:t>
            </a:r>
            <a:r>
              <a:rPr lang="en-US" dirty="0"/>
              <a:t>5 years (</a:t>
            </a:r>
            <a:r>
              <a:rPr dirty="0"/>
              <a:t>2021–2025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Sample:</a:t>
            </a:r>
          </a:p>
          <a:p>
            <a:pPr marL="0" indent="0">
              <a:buNone/>
            </a:pPr>
            <a:r>
              <a:rPr dirty="0"/>
              <a:t>• ICICI Prudential Nifty 50 Index Fund</a:t>
            </a:r>
          </a:p>
          <a:p>
            <a:pPr marL="0" indent="0">
              <a:buNone/>
            </a:pPr>
            <a:r>
              <a:rPr dirty="0"/>
              <a:t>• HDFC Index Fund</a:t>
            </a:r>
          </a:p>
          <a:p>
            <a:pPr marL="0" indent="0">
              <a:buNone/>
            </a:pPr>
            <a:r>
              <a:rPr dirty="0"/>
              <a:t>• UTI Nifty 50 Index Fund</a:t>
            </a:r>
          </a:p>
          <a:p>
            <a:pPr marL="0" indent="0">
              <a:buNone/>
            </a:pPr>
            <a:r>
              <a:rPr dirty="0"/>
              <a:t>• SBI Nifty Index Fund</a:t>
            </a:r>
          </a:p>
          <a:p>
            <a:pPr marL="0" indent="0">
              <a:buNone/>
            </a:pPr>
            <a:r>
              <a:rPr dirty="0"/>
              <a:t>• Nippon India Index Fund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Sources:</a:t>
            </a:r>
            <a:endParaRPr lang="en-US" dirty="0"/>
          </a:p>
          <a:p>
            <a:pPr marL="0" indent="0">
              <a:buNone/>
            </a:pPr>
            <a:r>
              <a:rPr dirty="0"/>
              <a:t>AMFI, NSE, </a:t>
            </a:r>
            <a:r>
              <a:rPr dirty="0" err="1"/>
              <a:t>Moneycontrol</a:t>
            </a:r>
            <a:r>
              <a:rPr dirty="0"/>
              <a:t>, Yahoo Finance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PARAMETERS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26030"/>
            <a:ext cx="8229600" cy="360013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Standard Deviation</a:t>
            </a:r>
          </a:p>
          <a:p>
            <a:pPr marL="0" indent="0">
              <a:buNone/>
            </a:pPr>
            <a:r>
              <a:rPr dirty="0"/>
              <a:t>• Beta</a:t>
            </a:r>
          </a:p>
          <a:p>
            <a:pPr marL="0" indent="0">
              <a:buNone/>
            </a:pPr>
            <a:r>
              <a:rPr dirty="0"/>
              <a:t>• Sharpe Ratio</a:t>
            </a:r>
          </a:p>
          <a:p>
            <a:pPr marL="0" indent="0">
              <a:buNone/>
            </a:pPr>
            <a:r>
              <a:rPr dirty="0"/>
              <a:t>• Treynor Ratio</a:t>
            </a:r>
          </a:p>
          <a:p>
            <a:pPr marL="0" indent="0">
              <a:buNone/>
            </a:pPr>
            <a:r>
              <a:rPr dirty="0"/>
              <a:t>• Jensen’s Alpha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7EC07-5423-C3C5-F779-CEC193F7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B37A-9300-AF2A-AD34-25C093B3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32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A638-17C2-00F4-6B65-365C0910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1660"/>
            <a:ext cx="8229600" cy="427450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Monthly and annual returns were calculated using NAV data.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Risk-adjusted performance was evaluated using Sharpe, Treynor, and Jensen’s Alpha.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Benchmark comparison was done with Nifty 50 Index.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Results showed variation in performance among selected index funds.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Risk and return were found to be positively related.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669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A09C3-D0E8-FF50-7511-73313118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98DD-5694-8D1C-563F-30E4300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HYPOTHESIS 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CE41-82B7-E668-2B24-AA9BD56F4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7290"/>
            <a:ext cx="8469630" cy="5520373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H₀1</a:t>
            </a:r>
            <a:r>
              <a:rPr lang="en-US" sz="2400" dirty="0"/>
              <a:t>: There is no significant relationship between risk and return of selected mutual funds</a:t>
            </a:r>
          </a:p>
          <a:p>
            <a:pPr marL="0" indent="0">
              <a:buNone/>
            </a:pPr>
            <a:r>
              <a:rPr lang="en-US" sz="2400" dirty="0"/>
              <a:t>        Result:  Rejected</a:t>
            </a:r>
          </a:p>
          <a:p>
            <a:pPr marL="0" indent="0">
              <a:buNone/>
            </a:pPr>
            <a:r>
              <a:rPr lang="en-US" sz="2400" dirty="0"/>
              <a:t>	A positive relationship exists between risk and return, as observed 	through standard deviation, beta, and returns.</a:t>
            </a:r>
          </a:p>
          <a:p>
            <a:endParaRPr lang="en-US" sz="2400" dirty="0"/>
          </a:p>
          <a:p>
            <a:r>
              <a:rPr lang="en-US" sz="2400" b="1" dirty="0"/>
              <a:t>H₀2</a:t>
            </a:r>
            <a:r>
              <a:rPr lang="en-US" sz="2400" dirty="0"/>
              <a:t>: Selected mutual funds do not significantly outperform the benchmark index</a:t>
            </a:r>
          </a:p>
          <a:p>
            <a:pPr marL="0" indent="0">
              <a:buNone/>
            </a:pPr>
            <a:r>
              <a:rPr lang="en-US" sz="2400" dirty="0"/>
              <a:t>	Result: Accepted</a:t>
            </a:r>
          </a:p>
          <a:p>
            <a:pPr marL="0" indent="0">
              <a:buNone/>
            </a:pPr>
            <a:r>
              <a:rPr lang="en-US" sz="2400" dirty="0"/>
              <a:t>	The selected Nifty 50 index funds closely track the benchmark and 	do not significantly outperform it.</a:t>
            </a:r>
          </a:p>
          <a:p>
            <a:endParaRPr lang="en-US" sz="2400" dirty="0"/>
          </a:p>
          <a:p>
            <a:r>
              <a:rPr lang="en-US" sz="2400" b="1" dirty="0"/>
              <a:t>H₀3</a:t>
            </a:r>
            <a:r>
              <a:rPr lang="en-US" sz="2400" dirty="0"/>
              <a:t>: There is no significant difference in performance among selected mutual funds</a:t>
            </a:r>
          </a:p>
          <a:p>
            <a:pPr marL="0" indent="0">
              <a:buNone/>
            </a:pPr>
            <a:r>
              <a:rPr lang="en-US" sz="2400" dirty="0"/>
              <a:t>	Result: Rejected</a:t>
            </a:r>
          </a:p>
          <a:p>
            <a:pPr marL="0" indent="0">
              <a:buNone/>
            </a:pPr>
            <a:r>
              <a:rPr lang="en-US" sz="2400" dirty="0"/>
              <a:t>	Differences were observed in returns, risk levels, and risk-adjusted 	measures such as Sharpe Ratio, Treynor Ratio, and Jensen’s Alpha.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6661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MAJOR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Risk and return are positively related in mutual fund investments</a:t>
            </a:r>
          </a:p>
          <a:p>
            <a:r>
              <a:rPr lang="en-US" dirty="0"/>
              <a:t>Funds with higher risk showed relatively higher returns.</a:t>
            </a:r>
          </a:p>
          <a:p>
            <a:r>
              <a:rPr lang="en-US" dirty="0"/>
              <a:t>All selected mutual funds tracked the Nifty 50 index closely.</a:t>
            </a:r>
          </a:p>
          <a:p>
            <a:r>
              <a:rPr lang="en-US" dirty="0"/>
              <a:t>Sharpe, Treynor, and Jensen’s Alpha helped evaluate performance.</a:t>
            </a:r>
          </a:p>
          <a:p>
            <a:r>
              <a:rPr lang="en-US" dirty="0"/>
              <a:t>Index funds are suitable for long-term investors.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03120"/>
            <a:ext cx="8229600" cy="1954530"/>
          </a:xfrm>
        </p:spPr>
        <p:txBody>
          <a:bodyPr>
            <a:normAutofit/>
          </a:bodyPr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520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ANALYSING THE IMPACT OF RISK AND RETURN IN MUTUAL FUND INVESTMENT</vt:lpstr>
      <vt:lpstr>AGENDA</vt:lpstr>
      <vt:lpstr>PROBLEM STATEMENT</vt:lpstr>
      <vt:lpstr>OBJECTIVES OF THE STUDY</vt:lpstr>
      <vt:lpstr>HYPOTHESIS</vt:lpstr>
      <vt:lpstr>RESEARCH METHODOLOGY</vt:lpstr>
      <vt:lpstr>SAMPLE &amp; DATA SOURCES</vt:lpstr>
      <vt:lpstr>PERFORMANCE PARAMETERS USED</vt:lpstr>
      <vt:lpstr>DATA ANALYSIS</vt:lpstr>
      <vt:lpstr>HYPOTHESIS TEST RESULTS</vt:lpstr>
      <vt:lpstr>MAJOR FINDINGS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., M M Srikara</cp:lastModifiedBy>
  <cp:revision>2</cp:revision>
  <dcterms:created xsi:type="dcterms:W3CDTF">2013-01-27T09:14:16Z</dcterms:created>
  <dcterms:modified xsi:type="dcterms:W3CDTF">2025-12-09T16:58:31Z</dcterms:modified>
  <cp:category/>
</cp:coreProperties>
</file>