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8" r:id="rId11"/>
    <p:sldId id="269" r:id="rId12"/>
    <p:sldId id="264" r:id="rId13"/>
    <p:sldId id="266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57" d="100"/>
          <a:sy n="57" d="100"/>
        </p:scale>
        <p:origin x="1468" y="-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34390"/>
            <a:ext cx="8229600" cy="2514600"/>
          </a:xfrm>
        </p:spPr>
        <p:txBody>
          <a:bodyPr/>
          <a:lstStyle/>
          <a:p>
            <a:r>
              <a:rPr dirty="0"/>
              <a:t>ANALYSING THE IMPACT OF RISK AND RETURN IN MUTUAL FUND INVESTMENT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11563"/>
            <a:ext cx="8229600" cy="2514600"/>
          </a:xfrm>
        </p:spPr>
        <p:txBody>
          <a:bodyPr/>
          <a:lstStyle/>
          <a:p>
            <a:pPr marL="0" indent="0" algn="ctr">
              <a:buNone/>
            </a:pPr>
            <a:r>
              <a:rPr dirty="0" err="1"/>
              <a:t>Shrivathsa</a:t>
            </a:r>
            <a:r>
              <a:rPr dirty="0"/>
              <a:t> M R</a:t>
            </a:r>
            <a:endParaRPr lang="en-US" dirty="0"/>
          </a:p>
          <a:p>
            <a:pPr marL="0" indent="0" algn="ctr">
              <a:buNone/>
            </a:pPr>
            <a:r>
              <a:rPr lang="en-IN" dirty="0"/>
              <a:t>24MFTF16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/>
              <a:t>• Introduction</a:t>
            </a:r>
          </a:p>
          <a:p>
            <a:pPr marL="0" indent="0">
              <a:buNone/>
            </a:pPr>
            <a:r>
              <a:rPr dirty="0"/>
              <a:t>• Problem Statement</a:t>
            </a:r>
          </a:p>
          <a:p>
            <a:pPr marL="0" indent="0">
              <a:buNone/>
            </a:pPr>
            <a:r>
              <a:rPr dirty="0"/>
              <a:t>• Objectives</a:t>
            </a:r>
          </a:p>
          <a:p>
            <a:pPr marL="0" indent="0">
              <a:buNone/>
            </a:pPr>
            <a:r>
              <a:rPr dirty="0"/>
              <a:t>• Hypothesis</a:t>
            </a:r>
          </a:p>
          <a:p>
            <a:pPr marL="0" indent="0">
              <a:buNone/>
            </a:pPr>
            <a:r>
              <a:rPr dirty="0"/>
              <a:t>• Methodology</a:t>
            </a:r>
          </a:p>
          <a:p>
            <a:pPr marL="0" indent="0">
              <a:buNone/>
            </a:pPr>
            <a:r>
              <a:rPr dirty="0"/>
              <a:t>• Data Analysis</a:t>
            </a:r>
          </a:p>
          <a:p>
            <a:pPr marL="0" indent="0">
              <a:buNone/>
            </a:pPr>
            <a:r>
              <a:rPr dirty="0"/>
              <a:t>• Major Findings</a:t>
            </a:r>
          </a:p>
          <a:p>
            <a:pPr marL="0" indent="0">
              <a:buNone/>
            </a:pPr>
            <a:r>
              <a:rPr dirty="0"/>
              <a:t>• Conclusion</a:t>
            </a:r>
          </a:p>
          <a:p>
            <a:pPr marL="0" indent="0">
              <a:buNone/>
            </a:pPr>
            <a:r>
              <a:rPr dirty="0"/>
              <a:t>•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630" y="754697"/>
            <a:ext cx="8229600" cy="1143000"/>
          </a:xfrm>
        </p:spPr>
        <p:txBody>
          <a:bodyPr/>
          <a:lstStyle/>
          <a:p>
            <a:r>
              <a:rPr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196791"/>
            <a:ext cx="8229600" cy="3918222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• Difficulty in selecting suitable mutual funds</a:t>
            </a:r>
          </a:p>
          <a:p>
            <a:pPr marL="0" indent="0">
              <a:buNone/>
            </a:pPr>
            <a:r>
              <a:rPr dirty="0"/>
              <a:t>• Investors focus only on returns, ignore risk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lang="en-US" dirty="0"/>
              <a:t>Mutual fund performances varies due to         market fluctuations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89305"/>
            <a:ext cx="8229600" cy="1143000"/>
          </a:xfrm>
        </p:spPr>
        <p:txBody>
          <a:bodyPr/>
          <a:lstStyle/>
          <a:p>
            <a:r>
              <a:rPr dirty="0"/>
              <a:t>OBJECTIVES OF THE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66010"/>
            <a:ext cx="8229600" cy="376015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Analyse</a:t>
            </a:r>
            <a:r>
              <a:rPr dirty="0"/>
              <a:t> impact of risk on mutual fund performance</a:t>
            </a:r>
          </a:p>
          <a:p>
            <a:pPr marL="0" indent="0">
              <a:buNone/>
            </a:pPr>
            <a:r>
              <a:rPr dirty="0"/>
              <a:t>• Evaluate return patterns</a:t>
            </a:r>
          </a:p>
          <a:p>
            <a:pPr marL="0" indent="0">
              <a:buNone/>
            </a:pPr>
            <a:r>
              <a:rPr dirty="0"/>
              <a:t>• Compare with Nifty 50 benchmark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1040130"/>
          </a:xfrm>
        </p:spPr>
        <p:txBody>
          <a:bodyPr>
            <a:normAutofit/>
          </a:bodyPr>
          <a:lstStyle/>
          <a:p>
            <a:r>
              <a:rPr sz="3600" dirty="0"/>
              <a:t>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" y="1223010"/>
            <a:ext cx="8903970" cy="554355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4500" b="1" dirty="0"/>
              <a:t>Null Hypothesis (H₀)</a:t>
            </a:r>
          </a:p>
          <a:p>
            <a:pPr marL="0" indent="0">
              <a:buNone/>
            </a:pPr>
            <a:endParaRPr lang="en-US" sz="4500" dirty="0"/>
          </a:p>
          <a:p>
            <a:pPr marL="0" indent="0">
              <a:buNone/>
            </a:pPr>
            <a:r>
              <a:rPr lang="en-US" sz="4500" dirty="0"/>
              <a:t>H₀1: There is no significant relationship between risk and return of selected mutual funds.</a:t>
            </a:r>
          </a:p>
          <a:p>
            <a:pPr marL="0" indent="0">
              <a:buNone/>
            </a:pPr>
            <a:endParaRPr lang="en-US" sz="4500" dirty="0"/>
          </a:p>
          <a:p>
            <a:pPr marL="0" indent="0">
              <a:buNone/>
            </a:pPr>
            <a:r>
              <a:rPr lang="en-US" sz="4500" dirty="0"/>
              <a:t>H₀2: Selected mutual funds do not significantly outperform the benchmark index.</a:t>
            </a:r>
          </a:p>
          <a:p>
            <a:pPr marL="0" indent="0">
              <a:buNone/>
            </a:pPr>
            <a:endParaRPr lang="en-US" sz="4500" b="1" dirty="0"/>
          </a:p>
          <a:p>
            <a:pPr marL="0" indent="0">
              <a:buNone/>
            </a:pPr>
            <a:r>
              <a:rPr lang="en-US" sz="4500" b="1" dirty="0"/>
              <a:t>Alternative Hypothesis (H₁)</a:t>
            </a:r>
          </a:p>
          <a:p>
            <a:pPr marL="0" indent="0">
              <a:buNone/>
            </a:pPr>
            <a:endParaRPr lang="en-US" sz="4500" dirty="0"/>
          </a:p>
          <a:p>
            <a:pPr marL="0" indent="0">
              <a:buNone/>
            </a:pPr>
            <a:r>
              <a:rPr lang="en-US" sz="4500" dirty="0"/>
              <a:t>H₁1: There is a significant relationship between risk and return of selected mutual funds.</a:t>
            </a:r>
          </a:p>
          <a:p>
            <a:pPr marL="0" indent="0">
              <a:buNone/>
            </a:pPr>
            <a:endParaRPr lang="en-US" sz="4500" dirty="0"/>
          </a:p>
          <a:p>
            <a:pPr marL="0" indent="0">
              <a:buNone/>
            </a:pPr>
            <a:r>
              <a:rPr lang="en-US" sz="4500" dirty="0"/>
              <a:t>H₁2: Selected mutual funds significantly outperform the benchmark index.</a:t>
            </a:r>
          </a:p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31837"/>
            <a:ext cx="8229600" cy="1143000"/>
          </a:xfrm>
        </p:spPr>
        <p:txBody>
          <a:bodyPr/>
          <a:lstStyle/>
          <a:p>
            <a:r>
              <a:rPr dirty="0"/>
              <a:t>RESEARCH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606040"/>
            <a:ext cx="8229600" cy="352012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• Secondary Research</a:t>
            </a:r>
          </a:p>
          <a:p>
            <a:pPr marL="0" indent="0">
              <a:buNone/>
            </a:pPr>
            <a:r>
              <a:rPr dirty="0"/>
              <a:t>• Descriptive &amp; Analytical Design</a:t>
            </a:r>
          </a:p>
          <a:p>
            <a:pPr marL="0" indent="0">
              <a:buNone/>
            </a:pPr>
            <a:r>
              <a:rPr dirty="0"/>
              <a:t>• Study Period: </a:t>
            </a:r>
            <a:r>
              <a:rPr lang="en-US" dirty="0"/>
              <a:t>5 years (</a:t>
            </a:r>
            <a:r>
              <a:rPr dirty="0"/>
              <a:t>2021–2025</a:t>
            </a:r>
            <a:r>
              <a:rPr lang="en-US" dirty="0"/>
              <a:t>)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&amp; 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/>
              <a:t>Sample:</a:t>
            </a:r>
          </a:p>
          <a:p>
            <a:pPr marL="0" indent="0">
              <a:buNone/>
            </a:pPr>
            <a:r>
              <a:rPr dirty="0"/>
              <a:t>• ICICI Prudential Nifty 50 Index Fund</a:t>
            </a:r>
          </a:p>
          <a:p>
            <a:pPr marL="0" indent="0">
              <a:buNone/>
            </a:pPr>
            <a:r>
              <a:rPr dirty="0"/>
              <a:t>• HDFC Index Fund</a:t>
            </a:r>
          </a:p>
          <a:p>
            <a:pPr marL="0" indent="0">
              <a:buNone/>
            </a:pPr>
            <a:r>
              <a:rPr dirty="0"/>
              <a:t>• UTI Nifty 50 Index Fund</a:t>
            </a:r>
          </a:p>
          <a:p>
            <a:pPr marL="0" indent="0">
              <a:buNone/>
            </a:pPr>
            <a:r>
              <a:rPr dirty="0"/>
              <a:t>• SBI Nifty Index Fund</a:t>
            </a:r>
          </a:p>
          <a:p>
            <a:pPr marL="0" indent="0">
              <a:buNone/>
            </a:pPr>
            <a:r>
              <a:rPr dirty="0"/>
              <a:t>• Nippon India Index Fund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Sources:</a:t>
            </a:r>
            <a:endParaRPr lang="en-US" dirty="0"/>
          </a:p>
          <a:p>
            <a:pPr marL="0" indent="0">
              <a:buNone/>
            </a:pPr>
            <a:r>
              <a:rPr dirty="0"/>
              <a:t>AMFI, NSE, </a:t>
            </a:r>
            <a:r>
              <a:rPr dirty="0" err="1"/>
              <a:t>Moneycontrol</a:t>
            </a:r>
            <a:r>
              <a:rPr dirty="0"/>
              <a:t>, Yahoo Finance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461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PERFORMANCE PARAMETERS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526030"/>
            <a:ext cx="8229600" cy="360013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• Standard Deviation</a:t>
            </a:r>
          </a:p>
          <a:p>
            <a:pPr marL="0" indent="0">
              <a:buNone/>
            </a:pPr>
            <a:r>
              <a:rPr dirty="0"/>
              <a:t>• Beta</a:t>
            </a:r>
          </a:p>
          <a:p>
            <a:pPr marL="0" indent="0">
              <a:buNone/>
            </a:pPr>
            <a:r>
              <a:rPr dirty="0"/>
              <a:t>• Sharpe Ratio</a:t>
            </a:r>
          </a:p>
          <a:p>
            <a:pPr marL="0" indent="0">
              <a:buNone/>
            </a:pPr>
            <a:r>
              <a:rPr dirty="0"/>
              <a:t>• Treynor Ratio</a:t>
            </a:r>
          </a:p>
          <a:p>
            <a:pPr marL="0" indent="0">
              <a:buNone/>
            </a:pPr>
            <a:r>
              <a:rPr dirty="0"/>
              <a:t>• Jensen’s Alpha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7EC07-5423-C3C5-F779-CEC193F76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FB37A-9300-AF2A-AD34-25C093B31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8324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DA638-17C2-00F4-6B65-365C0910C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51660"/>
            <a:ext cx="8229600" cy="4274503"/>
          </a:xfrm>
        </p:spPr>
        <p:txBody>
          <a:bodyPr>
            <a:normAutofit fontScale="62500" lnSpcReduction="20000"/>
          </a:bodyPr>
          <a:lstStyle/>
          <a:p>
            <a:r>
              <a:rPr lang="en-US" sz="4600" dirty="0"/>
              <a:t>Monthly and annual returns were calculated using NAV data.</a:t>
            </a:r>
          </a:p>
          <a:p>
            <a:pPr marL="0" indent="0">
              <a:buNone/>
            </a:pPr>
            <a:endParaRPr lang="en-US" sz="4600" dirty="0"/>
          </a:p>
          <a:p>
            <a:r>
              <a:rPr lang="en-US" sz="4600" dirty="0"/>
              <a:t>Risk-adjusted performance was evaluated using Sharpe, Treynor, and Jensen’s Alpha.</a:t>
            </a:r>
          </a:p>
          <a:p>
            <a:pPr marL="0" indent="0">
              <a:buNone/>
            </a:pPr>
            <a:endParaRPr lang="en-US" sz="4600" dirty="0"/>
          </a:p>
          <a:p>
            <a:r>
              <a:rPr lang="en-US" sz="4600" dirty="0"/>
              <a:t>Benchmark comparison was done with Nifty 50 Index.</a:t>
            </a:r>
          </a:p>
          <a:p>
            <a:pPr marL="0" indent="0">
              <a:buNone/>
            </a:pPr>
            <a:endParaRPr lang="en-US" sz="4600" dirty="0"/>
          </a:p>
          <a:p>
            <a:r>
              <a:rPr lang="en-US" sz="4600" dirty="0"/>
              <a:t>Risk and return were found to be positively related</a:t>
            </a:r>
            <a:r>
              <a:rPr lang="en-US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36694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A09C3-D0E8-FF50-7511-73313118B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98DD-5694-8D1C-563F-30E4300D2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HYPOTHESIS TEST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9CE41-82B7-E668-2B24-AA9BD56F4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70156"/>
            <a:ext cx="8469630" cy="5727507"/>
          </a:xfrm>
        </p:spPr>
        <p:txBody>
          <a:bodyPr>
            <a:normAutofit/>
          </a:bodyPr>
          <a:lstStyle/>
          <a:p>
            <a:r>
              <a:rPr lang="en-US" sz="2400" b="1" dirty="0"/>
              <a:t>H₀1</a:t>
            </a:r>
            <a:r>
              <a:rPr lang="en-US" sz="2400" dirty="0"/>
              <a:t>: There is no significant relationship between risk and return of selected mutual funds</a:t>
            </a:r>
          </a:p>
          <a:p>
            <a:pPr marL="0" indent="0">
              <a:buNone/>
            </a:pPr>
            <a:r>
              <a:rPr lang="en-US" sz="2000" dirty="0"/>
              <a:t>	</a:t>
            </a:r>
            <a:endParaRPr lang="en-US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54EBA0A-5CCB-C59E-AC95-6D35664AB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261432"/>
              </p:ext>
            </p:extLst>
          </p:nvPr>
        </p:nvGraphicFramePr>
        <p:xfrm>
          <a:off x="1717288" y="1953916"/>
          <a:ext cx="5709424" cy="3483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5250">
                  <a:extLst>
                    <a:ext uri="{9D8B030D-6E8A-4147-A177-3AD203B41FA5}">
                      <a16:colId xmlns:a16="http://schemas.microsoft.com/office/drawing/2014/main" val="2685028497"/>
                    </a:ext>
                  </a:extLst>
                </a:gridCol>
                <a:gridCol w="2964174">
                  <a:extLst>
                    <a:ext uri="{9D8B030D-6E8A-4147-A177-3AD203B41FA5}">
                      <a16:colId xmlns:a16="http://schemas.microsoft.com/office/drawing/2014/main" val="3056453898"/>
                    </a:ext>
                  </a:extLst>
                </a:gridCol>
              </a:tblGrid>
              <a:tr h="440414">
                <a:tc>
                  <a:txBody>
                    <a:bodyPr/>
                    <a:lstStyle/>
                    <a:p>
                      <a:r>
                        <a:rPr lang="en-US" dirty="0"/>
                        <a:t>FUND 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SHARPE RATIO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25303"/>
                  </a:ext>
                </a:extLst>
              </a:tr>
              <a:tr h="562094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ICICI Prudential Nifty 50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0.196898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9521720"/>
                  </a:ext>
                </a:extLst>
              </a:tr>
              <a:tr h="562093">
                <a:tc>
                  <a:txBody>
                    <a:bodyPr/>
                    <a:lstStyle/>
                    <a:p>
                      <a:r>
                        <a:rPr lang="en-US" dirty="0"/>
                        <a:t>HDFC Index Fund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0.190356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597818"/>
                  </a:ext>
                </a:extLst>
              </a:tr>
              <a:tr h="522878">
                <a:tc>
                  <a:txBody>
                    <a:bodyPr/>
                    <a:lstStyle/>
                    <a:p>
                      <a:r>
                        <a:rPr lang="en-US" dirty="0"/>
                        <a:t>UTI Nifty 50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0.193848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322763"/>
                  </a:ext>
                </a:extLst>
              </a:tr>
              <a:tr h="681615">
                <a:tc>
                  <a:txBody>
                    <a:bodyPr/>
                    <a:lstStyle/>
                    <a:p>
                      <a:r>
                        <a:rPr lang="en-US" dirty="0"/>
                        <a:t>Nippon India Index Fund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0.193484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503753"/>
                  </a:ext>
                </a:extLst>
              </a:tr>
              <a:tr h="714435">
                <a:tc>
                  <a:txBody>
                    <a:bodyPr/>
                    <a:lstStyle/>
                    <a:p>
                      <a:r>
                        <a:rPr lang="en-US" dirty="0"/>
                        <a:t>SBI Nifty Index Fund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0.199235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19471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E9A8C59-1625-B6CE-945F-65F6E6ADB84D}"/>
              </a:ext>
            </a:extLst>
          </p:cNvPr>
          <p:cNvSpPr txBox="1"/>
          <p:nvPr/>
        </p:nvSpPr>
        <p:spPr>
          <a:xfrm>
            <a:off x="847493" y="5978161"/>
            <a:ext cx="783930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/>
              <a:t>A positive relationship exists between risk and return, as observed 	through standard deviation, beta, and returns.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C4C8A-8AA7-F4CE-E20F-BF013D376D98}"/>
              </a:ext>
            </a:extLst>
          </p:cNvPr>
          <p:cNvSpPr txBox="1"/>
          <p:nvPr/>
        </p:nvSpPr>
        <p:spPr>
          <a:xfrm>
            <a:off x="847493" y="553255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Result:  Rejected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66610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F273-A66F-6DF7-670B-C93EAC2DF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97EF3-DFA9-4DAD-F956-4BBAE465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337"/>
            <a:ext cx="8229600" cy="798668"/>
          </a:xfrm>
        </p:spPr>
        <p:txBody>
          <a:bodyPr>
            <a:normAutofit/>
          </a:bodyPr>
          <a:lstStyle/>
          <a:p>
            <a:r>
              <a:rPr lang="en-US" sz="3600" dirty="0"/>
              <a:t>HYPOTHESIS TEST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10B7E-73C1-0E15-DA08-29BE6F5C3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59004"/>
            <a:ext cx="8469630" cy="5898995"/>
          </a:xfrm>
        </p:spPr>
        <p:txBody>
          <a:bodyPr>
            <a:normAutofit fontScale="92500" lnSpcReduction="20000"/>
          </a:bodyPr>
          <a:lstStyle/>
          <a:p>
            <a:r>
              <a:rPr lang="en-US" sz="2600" b="1" dirty="0"/>
              <a:t>H₀2</a:t>
            </a:r>
            <a:r>
              <a:rPr lang="en-US" sz="2600" dirty="0"/>
              <a:t>: Selected mutual funds do not significantly outperform the benchmark index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	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600" dirty="0"/>
              <a:t>	</a:t>
            </a:r>
          </a:p>
          <a:p>
            <a:pPr marL="0" indent="0">
              <a:buNone/>
            </a:pPr>
            <a:r>
              <a:rPr lang="en-US" sz="2600" dirty="0"/>
              <a:t>	Result: Accepted</a:t>
            </a:r>
          </a:p>
          <a:p>
            <a:pPr marL="0" indent="0">
              <a:buNone/>
            </a:pPr>
            <a:r>
              <a:rPr lang="en-US" sz="2600" dirty="0"/>
              <a:t>	The selected Nifty 50 index funds closely track the benchmark 	and do not significantly outperform it.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132D074-AC68-209A-CA68-C2C9E3B12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9809478"/>
              </p:ext>
            </p:extLst>
          </p:nvPr>
        </p:nvGraphicFramePr>
        <p:xfrm>
          <a:off x="1639229" y="1795347"/>
          <a:ext cx="5798634" cy="35967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145">
                  <a:extLst>
                    <a:ext uri="{9D8B030D-6E8A-4147-A177-3AD203B41FA5}">
                      <a16:colId xmlns:a16="http://schemas.microsoft.com/office/drawing/2014/main" val="2685028497"/>
                    </a:ext>
                  </a:extLst>
                </a:gridCol>
                <a:gridCol w="3010489">
                  <a:extLst>
                    <a:ext uri="{9D8B030D-6E8A-4147-A177-3AD203B41FA5}">
                      <a16:colId xmlns:a16="http://schemas.microsoft.com/office/drawing/2014/main" val="30564538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FUND 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JENSEN ALPHA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25303"/>
                  </a:ext>
                </a:extLst>
              </a:tr>
              <a:tr h="546134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ICICI Prudential Nifty 50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–0.06081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9521720"/>
                  </a:ext>
                </a:extLst>
              </a:tr>
              <a:tr h="546133">
                <a:tc>
                  <a:txBody>
                    <a:bodyPr/>
                    <a:lstStyle/>
                    <a:p>
                      <a:r>
                        <a:rPr lang="en-US" dirty="0"/>
                        <a:t>HDFC Index Fund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–0.05259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597818"/>
                  </a:ext>
                </a:extLst>
              </a:tr>
              <a:tr h="508031">
                <a:tc>
                  <a:txBody>
                    <a:bodyPr/>
                    <a:lstStyle/>
                    <a:p>
                      <a:r>
                        <a:rPr lang="en-US" dirty="0"/>
                        <a:t>UTI Nifty 50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–0.05806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322763"/>
                  </a:ext>
                </a:extLst>
              </a:tr>
              <a:tr h="662261">
                <a:tc>
                  <a:txBody>
                    <a:bodyPr/>
                    <a:lstStyle/>
                    <a:p>
                      <a:r>
                        <a:rPr lang="en-US" dirty="0"/>
                        <a:t>Nippon India Index Fund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–0.05844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503753"/>
                  </a:ext>
                </a:extLst>
              </a:tr>
              <a:tr h="694149">
                <a:tc>
                  <a:txBody>
                    <a:bodyPr/>
                    <a:lstStyle/>
                    <a:p>
                      <a:r>
                        <a:rPr lang="en-US" dirty="0"/>
                        <a:t>SBI Nifty Index Fund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–0.06489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19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1141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MAJOR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Risk and return are positively related in mutual fund investments</a:t>
            </a:r>
          </a:p>
          <a:p>
            <a:r>
              <a:rPr lang="en-US" dirty="0"/>
              <a:t>Funds with higher risk showed relatively higher returns.</a:t>
            </a:r>
          </a:p>
          <a:p>
            <a:r>
              <a:rPr lang="en-US" dirty="0"/>
              <a:t>All selected mutual funds tracked the Nifty 50 index closely.</a:t>
            </a:r>
          </a:p>
          <a:p>
            <a:r>
              <a:rPr lang="en-US" dirty="0"/>
              <a:t>Sharpe, Treynor, and Jensen’s Alpha helped evaluate performance.</a:t>
            </a:r>
          </a:p>
          <a:p>
            <a:r>
              <a:rPr lang="en-US" dirty="0"/>
              <a:t>Index funds are suitable for long-term investors.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03120"/>
            <a:ext cx="8229600" cy="1954530"/>
          </a:xfrm>
        </p:spPr>
        <p:txBody>
          <a:bodyPr>
            <a:normAutofit/>
          </a:bodyPr>
          <a:lstStyle/>
          <a:p>
            <a:r>
              <a:rPr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486</Words>
  <Application>Microsoft Office PowerPoint</Application>
  <PresentationFormat>On-screen Show (4:3)</PresentationFormat>
  <Paragraphs>113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ANALYSING THE IMPACT OF RISK AND RETURN IN MUTUAL FUND INVESTMENT</vt:lpstr>
      <vt:lpstr>AGENDA</vt:lpstr>
      <vt:lpstr>PROBLEM STATEMENT</vt:lpstr>
      <vt:lpstr>OBJECTIVES OF THE STUDY</vt:lpstr>
      <vt:lpstr>HYPOTHESIS</vt:lpstr>
      <vt:lpstr>RESEARCH METHODOLOGY</vt:lpstr>
      <vt:lpstr>SAMPLE &amp; DATA SOURCES</vt:lpstr>
      <vt:lpstr>PERFORMANCE PARAMETERS USED</vt:lpstr>
      <vt:lpstr>DATA ANALYSIS</vt:lpstr>
      <vt:lpstr>HYPOTHESIS TEST RESULTS</vt:lpstr>
      <vt:lpstr>HYPOTHESIS TEST RESULTS</vt:lpstr>
      <vt:lpstr>MAJOR FINDINGS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., M M Srikara</cp:lastModifiedBy>
  <cp:revision>3</cp:revision>
  <dcterms:created xsi:type="dcterms:W3CDTF">2013-01-27T09:14:16Z</dcterms:created>
  <dcterms:modified xsi:type="dcterms:W3CDTF">2025-12-11T15:47:46Z</dcterms:modified>
  <cp:category/>
</cp:coreProperties>
</file>